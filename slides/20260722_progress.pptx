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0312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22272E"/>
                </a:solidFill>
                <a:latin typeface="Meiryo"/>
              </a:rPr>
              <a:t>SAE-EditFlow: 学習した編集器で行う</a:t>
            </a:r>
          </a:p>
          <a:p>
            <a:pPr algn="l">
              <a:lnSpc>
                <a:spcPct val="115000"/>
              </a:lnSpc>
            </a:pPr>
            <a:r>
              <a:rPr sz="3400" b="1">
                <a:solidFill>
                  <a:srgbClr val="22272E"/>
                </a:solidFill>
                <a:latin typeface="Meiryo"/>
              </a:rPr>
              <a:t>SAE活性への介入と、その因果検証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977639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5A6472"/>
                </a:solidFill>
                <a:latin typeface="Meiryo"/>
              </a:rPr>
              <a:t>進捗報告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5720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22272E"/>
                </a:solidFill>
                <a:latin typeface="Meiryo"/>
              </a:rPr>
              <a:t>Yohei Kobashi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1206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8A929E"/>
                </a:solidFill>
                <a:latin typeface="Meiryo"/>
              </a:rPr>
              <a:t>2026-07-22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Introduction — 何を目指すか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言語の特徴とLLM内部の対応づけ: </a:t>
            </a:r>
            <a:r>
              <a:rPr sz="1800">
                <a:solidFill>
                  <a:srgbClr val="22272E"/>
                </a:solidFill>
                <a:latin typeface="Meiryo"/>
              </a:rPr>
              <a:t>SAE(スパース自己符号化器)を使うと、LLMの内部状態を「意味を持つ小さな部品(活性)」に分解できる。「過去形」「敬語」などの言語学的特徴がどの活性に対応するかを特定できれば、LLMが言語をどう扱っているかを説明する土台になる(LinguaLensの路線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課題: </a:t>
            </a:r>
            <a:r>
              <a:rPr sz="1800">
                <a:solidFill>
                  <a:srgbClr val="22272E"/>
                </a:solidFill>
                <a:latin typeface="Meiryo"/>
              </a:rPr>
              <a:t>特定した活性が「本当に」その特徴を担うかは、介入(その活性を操作して出力が変わるか)で確かめたい。しかし既存の介入は定数書き込みや単純な足し算で、効果が弱く不安定 — 因果検証の道具として力不足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本研究の提案: </a:t>
            </a:r>
            <a:r>
              <a:rPr sz="1800">
                <a:solidFill>
                  <a:srgbClr val="22272E"/>
                </a:solidFill>
                <a:latin typeface="Meiryo"/>
              </a:rPr>
              <a:t>介入を固定ルールではなく「学習した編集器」に生成させる。編集器はSAE活性の指定(スペック)を読み、凍結LMの内部状態に加える編集ベクトルΔhを出力する。最小対(1点だけ違う文のペア)の編集が成功するかで、活性の対応を因果的に検証す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先行研究① LinguaLens (Jing+ 2025, EMNLP)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貢献: </a:t>
            </a:r>
            <a:r>
              <a:rPr sz="1700">
                <a:solidFill>
                  <a:srgbClr val="22272E"/>
                </a:solidFill>
                <a:latin typeface="Meiryo"/>
              </a:rPr>
              <a:t>言語学的特徴145種(英語99・中国語46)を形態・統語・意味・語用の4分類で整理し、特徴ごとに約50組の最小対データを構築(LinguaLens-Data)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>
                <a:solidFill>
                  <a:srgbClr val="22272E"/>
                </a:solidFill>
                <a:latin typeface="Meiryo"/>
              </a:rPr>
              <a:t>各特徴に対応するSAE活性をPS/PN/FRC(発火の十分性・必要性)で特定し、LLM内部の言語知識の分布(層・言語間)を大規模に分析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介入の方法: </a:t>
            </a:r>
            <a:r>
              <a:rPr sz="1700">
                <a:solidFill>
                  <a:srgbClr val="22272E"/>
                </a:solidFill>
                <a:latin typeface="Meiryo"/>
              </a:rPr>
              <a:t>特定した上位3活性の値を固定値に書き換える(強める=10 / 消す=0)→ 自由生成をGPT-4oで判定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介入での課題(彼ら自身も明記): </a:t>
            </a:r>
            <a:r>
              <a:rPr sz="1700">
                <a:solidFill>
                  <a:srgbClr val="22272E"/>
                </a:solidFill>
                <a:latin typeface="Meiryo"/>
              </a:rPr>
              <a:t>「単発の介入の効果と安定性はfine-tuningに及ばない。SAEベースの介入手法の改良が必要」— 並行する活性経路が補償してしまい、効果が薄まる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我々の分析でも: </a:t>
            </a:r>
            <a:r>
              <a:rPr sz="1700">
                <a:solidFill>
                  <a:srgbClr val="22272E"/>
                </a:solidFill>
                <a:latin typeface="Meiryo"/>
              </a:rPr>
              <a:t>同定は全データでのin-sample選択で、データを半分にすると選ばれる活性の4割超が入れ替わる(スコア自体は保たれる=ほぼ同点の活性が多数)。介入と同定の両方に改良余地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先行研究② AxBench (Wu+ 2025)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結論が重要: </a:t>
            </a:r>
            <a:r>
              <a:rPr sz="1800">
                <a:solidFill>
                  <a:srgbClr val="22272E"/>
                </a:solidFill>
                <a:latin typeface="Meiryo"/>
              </a:rPr>
              <a:t>概念操舵(steering)の大規模ベンチマークで、既存のSAE介入(特徴を選んで加算)は「指示文で頼むだけのprompting」に勝てない、と報告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ReFT-r1: </a:t>
            </a:r>
            <a:r>
              <a:rPr sz="1800">
                <a:solidFill>
                  <a:srgbClr val="22272E"/>
                </a:solidFill>
                <a:latin typeface="Meiryo"/>
              </a:rPr>
              <a:t>唯一prompting級だったのは「学習した介入」(表現微調整ReFTの系譜)。= 介入は固定ルールより学習で作る方が強い、という示唆 — 本研究の設計方針と同じ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目的の違い: </a:t>
            </a:r>
            <a:r>
              <a:rPr sz="1800">
                <a:solidFill>
                  <a:srgbClr val="22272E"/>
                </a:solidFill>
                <a:latin typeface="Meiryo"/>
              </a:rPr>
              <a:t>AxBenchは「出力を概念の方向に操る」ことが目的(操舵の強さを競う)。LinguaLensと本研究は「特定した活性が本当にその特徴を担うかの因果検証」が目的。同じ介入技術を使うが、問いが違う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本研究での位置づけ: </a:t>
            </a:r>
            <a:r>
              <a:rPr sz="1800">
                <a:solidFill>
                  <a:srgbClr val="22272E"/>
                </a:solidFill>
                <a:latin typeface="Meiryo"/>
              </a:rPr>
              <a:t>AxBench準拠の介入(AUROCで1活性選択+max_act×係数の加算)とprompting を比較対象として実装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先行研究③ Edit Flows (2025) — 編集器の土台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既存の編集モデルの課題: </a:t>
            </a:r>
            <a:r>
              <a:rPr sz="1800">
                <a:solidFill>
                  <a:srgbClr val="22272E"/>
                </a:solidFill>
                <a:latin typeface="Meiryo"/>
              </a:rPr>
              <a:t>マスク穴埋め型・一発書き換え型のencoderは、「位置が固定」「長さが変わる編集(挿入・削除)が苦手」という構造的な弱点を持つ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Edit Flowsの解決: </a:t>
            </a:r>
            <a:r>
              <a:rPr sz="1800">
                <a:solidFill>
                  <a:srgbClr val="22272E"/>
                </a:solidFill>
                <a:latin typeface="Meiryo"/>
              </a:rPr>
              <a:t>文の生成・変換を「挿入・削除・置換という編集操作の列」として定式化(flow matching)。どの位置を・いくつ・どう直すかをモデル自身が選べるため、長さの変わる編集も自然に扱える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本研究での使い方: </a:t>
            </a:r>
            <a:r>
              <a:rPr sz="1800">
                <a:solidFill>
                  <a:srgbClr val="22272E"/>
                </a:solidFill>
                <a:latin typeface="Meiryo"/>
              </a:rPr>
              <a:t>この編集器(EF)を「編集の場所と内容を読み取る器」として採用し、壊した文を直す合成タスクで事前学習(EF基盤)。最終段では出力をトークンからΔh(embedding)に付け替え、凍結LM越しに学習する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効果(切除実験): </a:t>
            </a:r>
            <a:r>
              <a:rPr sz="1800">
                <a:solidFill>
                  <a:srgbClr val="22272E"/>
                </a:solidFill>
                <a:latin typeface="Meiryo"/>
              </a:rPr>
              <a:t>EF基盤なしで学習すると精度が約8割下がる — 本手法の最重要部品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先行研究④ LLM2Vec (BehnamGhader+ 2024) — 編集器の本体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何をする手法か: </a:t>
            </a:r>
            <a:r>
              <a:rPr sz="1700">
                <a:solidFill>
                  <a:srgbClr val="22272E"/>
                </a:solidFill>
                <a:latin typeface="Meiryo"/>
              </a:rPr>
              <a:t>生成用のLLM(デコーダ型)を、文を「読む」ための高性能エンコーダに作り変えるレシピ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なぜ必要か: </a:t>
            </a:r>
            <a:r>
              <a:rPr sz="1700">
                <a:solidFill>
                  <a:srgbClr val="22272E"/>
                </a:solidFill>
                <a:latin typeface="Meiryo"/>
              </a:rPr>
              <a:t>生成用LLMの注意は「自分より前の単語」しか見えない(因果注意)。しかし編集の判断には文全体 — 特に後ろの文脈 — が必要(例:「The key are…」のareを直すには後ろまで読む必要がある)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3つのステップ(平易に): </a:t>
            </a:r>
            <a:r>
              <a:rPr sz="1700">
                <a:solidFill>
                  <a:srgbClr val="22272E"/>
                </a:solidFill>
                <a:latin typeface="Meiryo"/>
              </a:rPr>
              <a:t/>
            </a:r>
          </a:p>
          <a:p>
            <a:pPr lvl="1">
              <a:lnSpc>
                <a:spcPct val="116000"/>
              </a:lnSpc>
              <a:spcAft>
                <a:spcPts val="800"/>
              </a:spcAft>
            </a:pPr>
            <a:r>
              <a:rPr sz="1500">
                <a:solidFill>
                  <a:srgbClr val="5A6472"/>
                </a:solidFill>
                <a:latin typeface="Meiryo"/>
              </a:rPr>
              <a:t>① 注意を双方向化 — 後ろの単語も見られるようにスイッチを切り替える</a:t>
            </a:r>
          </a:p>
          <a:p>
            <a:pPr lvl="1">
              <a:lnSpc>
                <a:spcPct val="116000"/>
              </a:lnSpc>
              <a:spcAft>
                <a:spcPts val="800"/>
              </a:spcAft>
            </a:pPr>
            <a:r>
              <a:rPr sz="1500">
                <a:solidFill>
                  <a:srgbClr val="5A6472"/>
                </a:solidFill>
                <a:latin typeface="Meiryo"/>
              </a:rPr>
              <a:t>② マスク語当てで慣らす — 文中の単語を隠して当てる練習をさせ、双方向の読み方に適応させる</a:t>
            </a:r>
          </a:p>
          <a:p>
            <a:pPr lvl="1">
              <a:lnSpc>
                <a:spcPct val="116000"/>
              </a:lnSpc>
              <a:spcAft>
                <a:spcPts val="800"/>
              </a:spcAft>
            </a:pPr>
            <a:r>
              <a:rPr sz="1500">
                <a:solidFill>
                  <a:srgbClr val="5A6472"/>
                </a:solidFill>
                <a:latin typeface="Meiryo"/>
              </a:rPr>
              <a:t>③ 文埋め込みの対比学習 — 同じ文同士を近く、違う文を遠くに配置(SimCSE)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本研究での役割: </a:t>
            </a:r>
            <a:r>
              <a:rPr sz="1700">
                <a:solidFill>
                  <a:srgbClr val="22272E"/>
                </a:solidFill>
                <a:latin typeface="Meiryo"/>
              </a:rPr>
              <a:t>編集器の本体 = Gemma-2-2BのLLM2Vec化。凍結LM・SAEと同じモデル系列なので内部表現の相性が良い。さらに合成データ作成時の「文の自然さ採点」にも同じエンコーダを利用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提案手法 — スペックを読む編集器がΔhを注入</a:t>
            </a:r>
          </a:p>
        </p:txBody>
      </p:sp>
      <p:pic>
        <p:nvPicPr>
          <p:cNvPr id="4" name="Picture 3" descr="fig_meth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4519" y="1024128"/>
            <a:ext cx="8412480" cy="52379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2636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A6472"/>
                </a:solidFill>
                <a:latin typeface="Meiryo"/>
              </a:rPr>
              <a:t>スペックは特徴ごとに同定プールの平均から事前に用意 — 評価する文からは作らない。編集器は「どこを・どれだけ直すか」を文とスペックから自分で決め、テキストは凍結LM自身が出す。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学習方法 — 4段階(すべて自己教師あり)</a:t>
            </a:r>
          </a:p>
        </p:txBody>
      </p:sp>
      <p:pic>
        <p:nvPicPr>
          <p:cNvPr id="4" name="Picture 3" descr="fig_t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051560"/>
            <a:ext cx="9601200" cy="523701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3550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A6472"/>
                </a:solidFill>
                <a:latin typeface="Meiryo"/>
              </a:rPr>
              <a:t>元コーパスはDolma v1.6サンプル(AllenAI)。学習にLinguaLens-Dataは一切使わない(ゼロショット転移)。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学習データと評価データ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学習データ: </a:t>
            </a:r>
            <a:r>
              <a:rPr sz="1800">
                <a:solidFill>
                  <a:srgbClr val="22272E"/>
                </a:solidFill>
                <a:latin typeface="Meiryo"/>
              </a:rPr>
              <a:t>Dolma v1.6サンプル(AllenAI公開の英語大規模コーパス)の文を確率的に壊して作った合成データ。LinguaLens-Dataは不使用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評価データ: </a:t>
            </a:r>
            <a:r>
              <a:rPr sz="1800">
                <a:solidFill>
                  <a:srgbClr val="22272E"/>
                </a:solidFill>
                <a:latin typeface="Meiryo"/>
              </a:rPr>
              <a:t>LinguaLens-Data(英語99特徴 × 約50最小対 = 4,951ペア)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データ分割(重要): </a:t>
            </a:r>
            <a:r>
              <a:rPr sz="1800">
                <a:solidFill>
                  <a:srgbClr val="22272E"/>
                </a:solidFill>
                <a:latin typeface="Meiryo"/>
              </a:rPr>
              <a:t>評価500ペア / 活性の特定(同定)プール4,451ペアに固定分割</a:t>
            </a:r>
          </a:p>
          <a:p>
            <a:pPr lvl="1">
              <a:lnSpc>
                <a:spcPct val="116000"/>
              </a:lnSpc>
              <a:spcAft>
                <a:spcPts val="800"/>
              </a:spcAft>
            </a:pPr>
            <a:r>
              <a:rPr sz="1600">
                <a:solidFill>
                  <a:srgbClr val="5A6472"/>
                </a:solidFill>
                <a:latin typeface="Meiryo"/>
              </a:rPr>
              <a:t>スペックは同定プールだけから作る → 評価する文もその正解も、スペックに一切漏れない。LinguaLens原法は全ペアで同定+同じデータで検証しており、この分離がない(我々の改良点)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方向: </a:t>
            </a:r>
            <a:r>
              <a:rPr sz="1800">
                <a:solidFill>
                  <a:srgbClr val="22272E"/>
                </a:solidFill>
                <a:latin typeface="Meiryo"/>
              </a:rPr>
              <a:t>各最小対は「特徴を消す(sup)」「特徴を足す(amp)」の両方向で評価できる(逆向き変換)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評価方法 — exact と FIC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exact(厳密一致): </a:t>
            </a:r>
            <a:r>
              <a:rPr sz="1800">
                <a:solidFill>
                  <a:srgbClr val="22272E"/>
                </a:solidFill>
                <a:latin typeface="Meiryo"/>
              </a:rPr>
              <a:t>「この文を復唱せよ」というプロンプト下で介入し、出力が正解文(最小対のもう片方)と完全一致した率。編集の精密さを測る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FIC(LinguaLensの指標): </a:t>
            </a:r>
            <a:r>
              <a:rPr sz="1800">
                <a:solidFill>
                  <a:srgbClr val="22272E"/>
                </a:solidFill>
                <a:latin typeface="Meiryo"/>
              </a:rPr>
              <a:t>介入ありの生成が、介入なしと比べて対象の特徴を「より多く/より少なく」示すかをGPT-4oが判定。特徴の増減の因果効果を測る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活性の特定はfeature単位: </a:t>
            </a:r>
            <a:r>
              <a:rPr sz="1800">
                <a:solidFill>
                  <a:srgbClr val="22272E"/>
                </a:solidFill>
                <a:latin typeface="Meiryo"/>
              </a:rPr>
              <a:t>特徴ごとに同定プール約45ペアの平均から上位64活性を選ぶ(評価文ごとには作らない)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集計軸: </a:t>
            </a:r>
            <a:r>
              <a:rPr sz="1800">
                <a:solidFill>
                  <a:srgbClr val="22272E"/>
                </a:solidFill>
                <a:latin typeface="Meiryo"/>
              </a:rPr>
              <a:t>方向2分類(amp=足す / sup=消す)× 特徴4分類(形態・統語・意味・語用)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統制: </a:t>
            </a:r>
            <a:r>
              <a:rPr sz="1800">
                <a:solidFill>
                  <a:srgbClr val="22272E"/>
                </a:solidFill>
                <a:latin typeface="Meiryo"/>
              </a:rPr>
              <a:t>スペックを無作為に差し替えたrandom条件・空にしたempty条件を常に併記(「介入の中身に従っているか」の検算)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評価時の入力プロンプト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E7C66"/>
                </a:solidFill>
                <a:latin typeface="Meiryo"/>
              </a:rPr>
              <a:t>本手法・steer(復唱枠): 編集情報ゼロの復唱指示 — 編集は介入だけが決める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37360"/>
            <a:ext cx="10424160" cy="77724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5A64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0">
                <a:solidFill>
                  <a:srgbClr val="22272E"/>
                </a:solidFill>
                <a:latin typeface="Meiryo"/>
              </a:rPr>
              <a:t>Input: {src文}</a:t>
            </a:r>
          </a:p>
          <a:p>
            <a:pPr algn="ctr"/>
            <a:r>
              <a:rPr sz="1300" b="0">
                <a:solidFill>
                  <a:srgbClr val="22272E"/>
                </a:solidFill>
                <a:latin typeface="Meiryo"/>
              </a:rPr>
              <a:t>Repeat the input sentence exactly. Never output anything else.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43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5E6E8C"/>
                </a:solidFill>
                <a:latin typeface="Meiryo"/>
              </a:rPr>
              <a:t>比較手法(書き換え枠): 中立の書き換え指示(特徴名は入れない)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291840"/>
            <a:ext cx="10424160" cy="64008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5A64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0">
                <a:solidFill>
                  <a:srgbClr val="22272E"/>
                </a:solidFill>
                <a:latin typeface="Meiryo"/>
              </a:rPr>
              <a:t>Rewrite the input sentence. …(特徴の情報なし)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2062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8A929E"/>
                </a:solidFill>
                <a:latin typeface="Meiryo"/>
              </a:rPr>
              <a:t>LinguaLens原法(参考): 素のプロンプトから自由生成 → GPT-4o判定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754880"/>
            <a:ext cx="10424160" cy="64008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5A64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0">
                <a:solidFill>
                  <a:srgbClr val="22272E"/>
                </a:solidFill>
                <a:latin typeface="Meiryo"/>
              </a:rPr>
              <a:t>User: Sir, tell me a story about you. Assistant:  (過去形の例)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5778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prompting腕のみ例外的に指示へ特徴名を入れる(「〜を足して/消して書き換えよ」)。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比較対象(すべて同じ同定プールで活性を特定)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234440"/>
          <a:ext cx="1106424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6035040"/>
                <a:gridCol w="2377440"/>
              </a:tblGrid>
              <a:tr h="701040">
                <a:tc>
                  <a:txBody>
                    <a:bodyPr/>
                    <a:lstStyle/>
                    <a:p>
                      <a:r>
                        <a:rPr sz="1400" b="1">
                          <a:latin typeface="Meiryo"/>
                        </a:rPr>
                        <a:t>手法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latin typeface="Meiryo"/>
                        </a:rPr>
                        <a:t>介入のつくり方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latin typeface="Meiryo"/>
                        </a:rPr>
                        <a:t>役割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提案手法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feature spec(上位64活性・大きさつき)を学習した編集器が読み、Δhを生成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編集器の価値を検証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steer(同スペック加算)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同じspecを固定変換で残差空間に足すだけ(学習なし)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編集器を外した統制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LinguaLens準拠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FRC上位3活性を固定値に書き換え(足す=10 / 消す=0)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先行手法の忠実再現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AxBench準拠 steer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AUROC上位1活性を max_act×係数 で加算(係数は彼らのグリッド)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先行手法の忠実再現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AxBench準拠 prompting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特徴名を指示文に入れて書き換えさせる(介入なし)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強い非介入ベースライン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71500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介入の強さ(スケール/係数)は各手法とも、評価500ペアに触れない開発用サンプル(同定プール内)で較正。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介入するactivationsの選び方 — 3手法の違い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88720"/>
          <a:ext cx="1124712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383280"/>
                <a:gridCol w="2926080"/>
                <a:gridCol w="2926080"/>
              </a:tblGrid>
              <a:tr h="561702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提案手法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LinguaLens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AxBench</a:t>
                      </a:r>
                    </a:p>
                  </a:txBody>
                  <a:tcPr/>
                </a:tc>
              </a:tr>
              <a:tr h="561702">
                <a:tc>
                  <a:txBody>
                    <a:bodyPr/>
                    <a:lstStyle/>
                    <a:p>
                      <a:r>
                        <a:rPr sz="1150" b="1">
                          <a:latin typeface="Meiryo"/>
                        </a:rPr>
                        <a:t>使う統計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Meiryo"/>
                        </a:rPr>
                        <a:t>最小対のSAE差分(z_tgt−z_src)の平均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Meiryo"/>
                        </a:rPr>
                        <a:t>発火したかの二値統計</a:t>
                      </a:r>
                    </a:p>
                    <a:p>
                      <a:r>
                        <a:rPr sz="1150" b="0">
                          <a:latin typeface="Meiryo"/>
                        </a:rPr>
                        <a:t>(PS/PNの調和平均=FRC)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Meiryo"/>
                        </a:rPr>
                        <a:t>活性の大きさとラベルの</a:t>
                      </a:r>
                    </a:p>
                    <a:p>
                      <a:r>
                        <a:rPr sz="1150" b="0">
                          <a:latin typeface="Meiryo"/>
                        </a:rPr>
                        <a:t>判別力(AUROC)</a:t>
                      </a:r>
                    </a:p>
                  </a:txBody>
                  <a:tcPr/>
                </a:tc>
              </a:tr>
              <a:tr h="561702">
                <a:tc>
                  <a:txBody>
                    <a:bodyPr/>
                    <a:lstStyle/>
                    <a:p>
                      <a:r>
                        <a:rPr sz="1150" b="1">
                          <a:latin typeface="Meiryo"/>
                        </a:rPr>
                        <a:t>選ぶ本数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Meiryo"/>
                        </a:rPr>
                        <a:t>上位64本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Meiryo"/>
                        </a:rPr>
                        <a:t>上位3本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Meiryo"/>
                        </a:rPr>
                        <a:t>上位1本</a:t>
                      </a:r>
                    </a:p>
                  </a:txBody>
                  <a:tcPr/>
                </a:tc>
              </a:tr>
              <a:tr h="561702">
                <a:tc>
                  <a:txBody>
                    <a:bodyPr/>
                    <a:lstStyle/>
                    <a:p>
                      <a:r>
                        <a:rPr sz="1150" b="1">
                          <a:latin typeface="Meiryo"/>
                        </a:rPr>
                        <a:t>値の扱い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Meiryo"/>
                        </a:rPr>
                        <a:t>符号つきの大きさを保持</a:t>
                      </a:r>
                    </a:p>
                    <a:p>
                      <a:r>
                        <a:rPr sz="1150" b="0">
                          <a:latin typeface="Meiryo"/>
                        </a:rPr>
                        <a:t>(足す/消すを同時指定)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Meiryo"/>
                        </a:rPr>
                        <a:t>捨てる(固定値10/0に上書き)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Meiryo"/>
                        </a:rPr>
                        <a:t>max_act×係数で加算</a:t>
                      </a:r>
                    </a:p>
                  </a:txBody>
                  <a:tcPr/>
                </a:tc>
              </a:tr>
              <a:tr h="561702">
                <a:tc>
                  <a:txBody>
                    <a:bodyPr/>
                    <a:lstStyle/>
                    <a:p>
                      <a:r>
                        <a:rPr sz="1150" b="1">
                          <a:latin typeface="Meiryo"/>
                        </a:rPr>
                        <a:t>測る場所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Meiryo"/>
                        </a:rPr>
                        <a:t>編集される箇所だけ(局所)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Meiryo"/>
                        </a:rPr>
                        <a:t>文中のどこでも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Meiryo"/>
                        </a:rPr>
                        <a:t>文全体の最大値</a:t>
                      </a:r>
                    </a:p>
                  </a:txBody>
                  <a:tcPr/>
                </a:tc>
              </a:tr>
              <a:tr h="561702">
                <a:tc>
                  <a:txBody>
                    <a:bodyPr/>
                    <a:lstStyle/>
                    <a:p>
                      <a:r>
                        <a:rPr sz="1150" b="1">
                          <a:latin typeface="Meiryo"/>
                        </a:rPr>
                        <a:t>選び方の型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Meiryo"/>
                        </a:rPr>
                        <a:t>平均(全ペアの合意)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Meiryo"/>
                        </a:rPr>
                        <a:t>最大値の勝者総取り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Meiryo"/>
                        </a:rPr>
                        <a:t>最大値の勝者総取り</a:t>
                      </a:r>
                    </a:p>
                  </a:txBody>
                  <a:tcPr/>
                </a:tc>
              </a:tr>
              <a:tr h="561708">
                <a:tc>
                  <a:txBody>
                    <a:bodyPr/>
                    <a:lstStyle/>
                    <a:p>
                      <a:r>
                        <a:rPr sz="1150" b="1">
                          <a:latin typeface="Meiryo"/>
                        </a:rPr>
                        <a:t>安定性(実測)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Meiryo"/>
                        </a:rPr>
                        <a:t>データ半分でもspecほぼ同じ</a:t>
                      </a:r>
                    </a:p>
                    <a:p>
                      <a:r>
                        <a:rPr sz="1150" b="0">
                          <a:latin typeface="Meiryo"/>
                        </a:rPr>
                        <a:t>(類似度0.83)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Meiryo"/>
                        </a:rPr>
                        <a:t>半分で1位の6割が入れ替わる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Meiryo"/>
                        </a:rPr>
                        <a:t>同左(勝者総取りの宿命)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534924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ポイント: 上位近くにはほぼ同点の活性が多数あり(SAEのfeature分裂)、最大値で選ぶと「どれが選ばれるか」がデータ次第で入れ替わる。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提案手法は平均で同点クラスタ全体を取り込むため安定 — かつ大きさ・符号を保持するので、編集器が「どれをどれだけ動かすか」を読める。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比較対象の詳細 — prompting(介入なしの天井)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A6472"/>
                </a:solidFill>
                <a:latin typeface="Meiryo"/>
              </a:rPr>
              <a:t>同じ凍結LM(gemma-2-2b-it)に、指示文だけで編集させる。SAEも介入も使わない「言葉で頼む」やり方の上限を測る腕。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8288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E7C66"/>
                </a:solidFill>
                <a:latin typeface="Meiryo"/>
              </a:rPr>
              <a:t>実際のプロンプト(sup方向の例、greedy生成):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286000"/>
            <a:ext cx="10881360" cy="155448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5A64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true(正しい特徴名): Rewrite the input sentence to remove any {特徴名: 例 superlative}. Output only the rewritten sentence.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random(無関係な特徴名): Rewrite the input sentence to remove any {別の特徴名}. …(特異性の検算用)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empty(特徴名なし): Rewrite the input sentence. Output only the rewritten sentence.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※ この後に Input: {src文} を付けてチャット形式で入力。amp方向は remove → add に変わるだけ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1148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600" b="1">
                <a:solidFill>
                  <a:srgbClr val="0E7C66"/>
                </a:solidFill>
                <a:latin typeface="Meiryo"/>
              </a:rPr>
              <a:t>randomの意味: </a:t>
            </a:r>
            <a:r>
              <a:rPr sz="1600">
                <a:solidFill>
                  <a:srgbClr val="22272E"/>
                </a:solidFill>
                <a:latin typeface="Meiryo"/>
              </a:rPr>
              <a:t>無関係な特徴名で同じ指示をしたときに編集が出るか = 「指定に従っているか」の検算。ここで編集してしまうのがpromptingの弱点(失敗例スライド)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600" b="1">
                <a:solidFill>
                  <a:srgbClr val="0E7C66"/>
                </a:solidFill>
                <a:latin typeface="Meiryo"/>
              </a:rPr>
              <a:t>参考(付録): </a:t>
            </a:r>
            <a:r>
              <a:rPr sz="1600">
                <a:solidFill>
                  <a:srgbClr val="22272E"/>
                </a:solidFill>
                <a:latin typeface="Meiryo"/>
              </a:rPr>
              <a:t>AxBenchの字義通りの移植 — gpt-4o-miniに生成させた長い操舵文(例:「回答には能動的な動詞の概念を織り込み…」)を前置する方式も試したが、編集タスクにはほぼ転移しなかった(exact 0.006)。上の「編集向けの自然な指示」に直した版(0.180)を本命の比較対象としている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実験結果(exact・進行中 — 本日朝時点)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88720"/>
          <a:ext cx="1124712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6731"/>
                <a:gridCol w="1606731"/>
                <a:gridCol w="1606731"/>
                <a:gridCol w="1606731"/>
                <a:gridCol w="1606731"/>
                <a:gridCol w="1606731"/>
                <a:gridCol w="1606734"/>
              </a:tblGrid>
              <a:tr h="444137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手法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L4 sup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L4 amp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L12 sup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L12 amp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L20 sup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L20 amp</a:t>
                      </a:r>
                    </a:p>
                  </a:txBody>
                  <a:tcPr/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提案手法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0.048</a:t>
                      </a:r>
                    </a:p>
                  </a:txBody>
                  <a:tcPr/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steer(同スペック)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0.024</a:t>
                      </a:r>
                    </a:p>
                  </a:txBody>
                  <a:tcPr/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LinguaLens準拠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計測中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0.106*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計測中</a:t>
                      </a:r>
                    </a:p>
                  </a:txBody>
                  <a:tcPr/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AxBench準拠 steer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計測中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計測中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計測中</a:t>
                      </a:r>
                    </a:p>
                  </a:txBody>
                  <a:tcPr/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AxBench準拠 prompting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0.227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0.227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0.227</a:t>
                      </a:r>
                    </a:p>
                  </a:txBody>
                  <a:tcPr/>
                </a:tc>
              </a:tr>
              <a:tr h="444138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(random統制: 提案)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0.030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526280"/>
            <a:ext cx="11247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・提案手法はsteer(同スペック)に6セル中5セルで勝つ(例外: L4 sup)。ampは全層で提案手法が最良の介入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・promptingはexactでは最強だが、randomスペックでも0.06-0.09編集する(特異性がない)。提案手法のrandomは≈0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・FIC(L12・判定済み): 消す方向 提案0.94 / steer 0.15 / prompting 0.42 — 介入としての因果効果は提案手法が圧倒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  足す方向は prompting 0.49 / 提案 0.31 / steer −0.00。他層は判定進行中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・* LinguaLens準拠のampは修正版の暫定値(書き換え枠の床0.120と同水準=効果ほぼなし)。計測中セルは本日中に確定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失敗例 — promptingのFICはなぜ低いか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A6472"/>
                </a:solidFill>
                <a:latin typeface="Meiryo"/>
              </a:rPr>
              <a:t>FICは「正しい指定のときだけ特徴が動くか」を測る(間違った指定でも動くと減点)。promptingは指示が間違っていても編集してしまうため、exactが高くてもFICが下がる。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82880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5E6E8C"/>
                </a:solidFill>
                <a:latin typeface="Meiryo"/>
              </a:rPr>
              <a:t>prompting: 無関係な特徴の指示でも消してしまう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86000"/>
            <a:ext cx="5577840" cy="283464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5E6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He is the most respectful student here.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無関係指示: → He is the respectful student here.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(頼んでいない最上級が消える=正解と同じ編集)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/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May I interject, the mobile app needs …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無関係指示: → The mobile app needs …(間投句が消える)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/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He wanted to slowly walk through …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無関係指示: → He wanted to leisurely explore …(大幅書換)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5080" y="1828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E7C66"/>
                </a:solidFill>
                <a:latin typeface="Meiryo"/>
              </a:rPr>
              <a:t>本手法: 正しいスペックでも編集が出ないことがある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5080" y="2286000"/>
            <a:ext cx="5394960" cy="283464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0E7C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He is the most respectful student here.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出力 = src のまま(最上級を消せず)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/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A clock ticks without pause.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出力 = src のまま(without pauseを削除できず)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/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Biologists studied green slime in …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出力 = src のまま(algaeへの語彙置換 —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 特徴平均のスペックでは単語の中身まで運べない)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34924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まとめ: promptingの失敗=「効きすぎ」(指定に従わない編集 → 介入としての特異性がない)。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本手法の失敗=「効かなさすぎ」(発火不足・語彙固有の編集)。改善はToDo②のスペック較正と追加学習が対応。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残り1週間のToDo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900" b="1">
                <a:solidFill>
                  <a:srgbClr val="0E7C66"/>
                </a:solidFill>
                <a:latin typeface="Meiryo"/>
              </a:rPr>
              <a:t>① 活性数の絞り込み分析(L12): </a:t>
            </a:r>
            <a:r>
              <a:rPr sz="1900">
                <a:solidFill>
                  <a:srgbClr val="22272E"/>
                </a:solidFill>
                <a:latin typeface="Meiryo"/>
              </a:rPr>
              <a:t>現在の64個は多すぎる可能性。上位から絞り込んだときの精度変化を、特徴4分類(形態・統語・意味・語用)ごとに測定 — 「何個の活性で特徴を担えるか」の実証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900" b="1">
                <a:solidFill>
                  <a:srgbClr val="0E7C66"/>
                </a:solidFill>
                <a:latin typeface="Meiryo"/>
              </a:rPr>
              <a:t>② 精度改善案の実施: </a:t>
            </a:r>
            <a:r>
              <a:rPr sz="1900">
                <a:solidFill>
                  <a:srgbClr val="22272E"/>
                </a:solidFill>
                <a:latin typeface="Meiryo"/>
              </a:rPr>
              <a:t>スペックの整形(大きさの較正・雑音除去)、編集器を集約スペック入りで追加学習、方向別の較正 など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900" b="1">
                <a:solidFill>
                  <a:srgbClr val="0E7C66"/>
                </a:solidFill>
                <a:latin typeface="Meiryo"/>
              </a:rPr>
              <a:t>③ 活性特定の自動化の検討: </a:t>
            </a:r>
            <a:r>
              <a:rPr sz="1900">
                <a:solidFill>
                  <a:srgbClr val="22272E"/>
                </a:solidFill>
                <a:latin typeface="Meiryo"/>
              </a:rPr>
              <a:t>LinguaLens-Dataの一部で編集器ごと学習し、「どの活性を動かすべきか」自体をモデルに特定させる手法を設計できないか検討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900" b="1">
                <a:solidFill>
                  <a:srgbClr val="0E7C66"/>
                </a:solidFill>
                <a:latin typeface="Meiryo"/>
              </a:rPr>
              <a:t>(継続) </a:t>
            </a:r>
            <a:r>
              <a:rPr sz="1900">
                <a:solidFill>
                  <a:srgbClr val="22272E"/>
                </a:solidFill>
                <a:latin typeface="Meiryo"/>
              </a:rPr>
              <a:t>全セルの計測完了・FIC判定完了 → 4分類別の完全な表に更新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